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DM Sans Medium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O9Pz/QnG2U18P7sreIfzcwVRw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DMSansMedium-regular.fntdata"/><Relationship Id="rId21" Type="http://schemas.openxmlformats.org/officeDocument/2006/relationships/slide" Target="slides/slide16.xml"/><Relationship Id="rId24" Type="http://schemas.openxmlformats.org/officeDocument/2006/relationships/font" Target="fonts/DMSansMedium-italic.fntdata"/><Relationship Id="rId23" Type="http://schemas.openxmlformats.org/officeDocument/2006/relationships/font" Target="fonts/DM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regular.fntdata"/><Relationship Id="rId25" Type="http://schemas.openxmlformats.org/officeDocument/2006/relationships/font" Target="fonts/DMSansMedium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6227e8ca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86227e8ca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6227e8c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86227e8c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6227e8ca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86227e8ca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6227e8ca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86227e8ca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f0df8cb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a1f0df8c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f0df8cb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a1f0df8cb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f0df8cb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a1f0df8cb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6227e8ca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86227e8ca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f0df8cb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a1f0df8cb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f0df8cb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1f0df8cb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1f0df8cb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1f0df8cb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f0df8cb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1f0df8cb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1f0df8cb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a1f0df8cb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792000" y="1739175"/>
            <a:ext cx="7560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Copilot para Desarrolladores Web (.Net y Node)</a:t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96200" y="2621313"/>
            <a:ext cx="81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Argenis Gonzalez</a:t>
            </a:r>
            <a:endParaRPr b="0" i="0" sz="1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200" y="2975257"/>
            <a:ext cx="81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Sesión 1 - </a:t>
            </a:r>
            <a:r>
              <a:rPr lang="es" sz="12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 Noviembre </a:t>
            </a:r>
            <a:r>
              <a:rPr b="0" i="0" lang="es" sz="12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2025</a:t>
            </a:r>
            <a:endParaRPr b="0" i="0" sz="12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7291132" y="120225"/>
            <a:ext cx="168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6227e8ca0_0_90"/>
          <p:cNvSpPr txBox="1"/>
          <p:nvPr/>
        </p:nvSpPr>
        <p:spPr>
          <a:xfrm>
            <a:off x="7291132" y="120225"/>
            <a:ext cx="168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g386227e8ca0_0_90"/>
          <p:cNvSpPr txBox="1"/>
          <p:nvPr/>
        </p:nvSpPr>
        <p:spPr>
          <a:xfrm>
            <a:off x="1922025" y="381825"/>
            <a:ext cx="1837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Índice</a:t>
            </a:r>
            <a:endParaRPr b="1" i="0" sz="22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g386227e8ca0_0_90"/>
          <p:cNvSpPr txBox="1"/>
          <p:nvPr/>
        </p:nvSpPr>
        <p:spPr>
          <a:xfrm>
            <a:off x="628650" y="980300"/>
            <a:ext cx="7886700" cy="4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73050" lvl="0" marL="3429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¿Qué es un MCP Server?</a:t>
            </a:r>
            <a:endParaRPr b="0" i="0" sz="1700" u="none" cap="none" strike="noStrike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Top 5 MCP Servers para Desarrollo</a:t>
            </a:r>
            <a:endParaRPr b="0" i="0" sz="1700" u="none" cap="none" strike="noStrike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Chat vs Autocompletado</a:t>
            </a:r>
            <a:endParaRPr b="0" i="0" sz="1700" u="none" cap="none" strike="noStrike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Casos de Uso Fullstack</a:t>
            </a:r>
            <a:endParaRPr b="0" i="0" sz="1700" u="none" cap="none" strike="noStrike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Copilot vs ChatGPT</a:t>
            </a:r>
            <a:endParaRPr b="0" i="0" sz="1700" u="none" cap="none" strike="noStrike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Limitaciones y Riesgos</a:t>
            </a:r>
            <a:endParaRPr sz="17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¿Qué es un Promt?</a:t>
            </a:r>
            <a:endParaRPr sz="17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Tipos de Promts</a:t>
            </a:r>
            <a:endParaRPr sz="17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Promt Gen</a:t>
            </a:r>
            <a:r>
              <a:rPr b="1" lang="es" sz="1700">
                <a:solidFill>
                  <a:schemeClr val="lt1"/>
                </a:solidFill>
              </a:rPr>
              <a:t>é</a:t>
            </a: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rico vs Efectivo </a:t>
            </a:r>
            <a:endParaRPr sz="17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 Medium"/>
              <a:buAutoNum type="arabicPeriod"/>
            </a:pPr>
            <a:r>
              <a:rPr lang="es" sz="1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¿Qué es un MCP Server?</a:t>
            </a:r>
            <a:endParaRPr sz="17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6084795" y="120225"/>
            <a:ext cx="288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</a:t>
            </a:r>
            <a:r>
              <a:rPr lang="es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792000" y="357053"/>
            <a:ext cx="756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GitHub Copilot?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932425" y="1177800"/>
            <a:ext cx="7829700" cy="3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Char char="●"/>
            </a:pPr>
            <a:r>
              <a:rPr b="1" lang="es" sz="1900">
                <a:solidFill>
                  <a:schemeClr val="lt1"/>
                </a:solidFill>
              </a:rPr>
              <a:t>🤖 Asistente AI </a:t>
            </a:r>
            <a:r>
              <a:rPr lang="es" sz="1900">
                <a:solidFill>
                  <a:schemeClr val="lt1"/>
                </a:solidFill>
              </a:rPr>
              <a:t>integrado en tu editor</a:t>
            </a:r>
            <a:endParaRPr i="0" sz="1900" u="none" cap="none" strike="noStrike">
              <a:solidFill>
                <a:schemeClr val="lt1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Char char="●"/>
            </a:pPr>
            <a:r>
              <a:rPr lang="es" sz="1900">
                <a:solidFill>
                  <a:schemeClr val="lt1"/>
                </a:solidFill>
              </a:rPr>
              <a:t>🧠 </a:t>
            </a:r>
            <a:r>
              <a:rPr b="1" lang="es" sz="1900">
                <a:solidFill>
                  <a:schemeClr val="lt1"/>
                </a:solidFill>
              </a:rPr>
              <a:t>Entrenado</a:t>
            </a:r>
            <a:r>
              <a:rPr lang="es" sz="1900">
                <a:solidFill>
                  <a:schemeClr val="lt1"/>
                </a:solidFill>
              </a:rPr>
              <a:t> con billones de líneas de código público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Char char="●"/>
            </a:pPr>
            <a:r>
              <a:rPr lang="es" sz="1900">
                <a:solidFill>
                  <a:schemeClr val="lt1"/>
                </a:solidFill>
              </a:rPr>
              <a:t>⚡ </a:t>
            </a:r>
            <a:r>
              <a:rPr b="1" lang="es" sz="1900">
                <a:solidFill>
                  <a:schemeClr val="lt1"/>
                </a:solidFill>
              </a:rPr>
              <a:t>Sugerencias en tiempo real</a:t>
            </a:r>
            <a:r>
              <a:rPr lang="es" sz="1900">
                <a:solidFill>
                  <a:schemeClr val="lt1"/>
                </a:solidFill>
              </a:rPr>
              <a:t> mientras escribes</a:t>
            </a:r>
            <a:r>
              <a:rPr b="1" i="0" lang="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Tecnología detrás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Modelos LLM (Large Language Models)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Basado en OpenAI Codex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Aprende de tu contexto actual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💡 No reemplaza al desarrollador, lo potencia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227e8ca0_0_23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/1</a:t>
            </a:r>
            <a:r>
              <a:rPr lang="es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77" name="Google Shape;77;g386227e8ca0_0_23"/>
          <p:cNvSpPr txBox="1"/>
          <p:nvPr/>
        </p:nvSpPr>
        <p:spPr>
          <a:xfrm>
            <a:off x="792000" y="291331"/>
            <a:ext cx="756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Integración en Editores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g386227e8ca0_0_23"/>
          <p:cNvSpPr txBox="1"/>
          <p:nvPr/>
        </p:nvSpPr>
        <p:spPr>
          <a:xfrm>
            <a:off x="992575" y="1043366"/>
            <a:ext cx="7429500" cy="3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Dónde funciona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✅ </a:t>
            </a:r>
            <a:r>
              <a:rPr b="1" lang="es" sz="1900">
                <a:solidFill>
                  <a:schemeClr val="lt1"/>
                </a:solidFill>
              </a:rPr>
              <a:t>Visual Studio Code</a:t>
            </a:r>
            <a:r>
              <a:rPr lang="es" sz="1900">
                <a:solidFill>
                  <a:schemeClr val="lt1"/>
                </a:solidFill>
              </a:rPr>
              <a:t> (Principal)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✅ </a:t>
            </a:r>
            <a:r>
              <a:rPr b="1" lang="es" sz="1900">
                <a:solidFill>
                  <a:schemeClr val="lt1"/>
                </a:solidFill>
              </a:rPr>
              <a:t>Visual Studio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✅ </a:t>
            </a:r>
            <a:r>
              <a:rPr b="1" lang="es" sz="1900">
                <a:solidFill>
                  <a:schemeClr val="lt1"/>
                </a:solidFill>
              </a:rPr>
              <a:t>JetBrains IDEs</a:t>
            </a:r>
            <a:r>
              <a:rPr lang="es" sz="1900">
                <a:solidFill>
                  <a:schemeClr val="lt1"/>
                </a:solidFill>
              </a:rPr>
              <a:t> (IntelliJ, WebStorm)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✅ </a:t>
            </a:r>
            <a:r>
              <a:rPr b="1" lang="es" sz="1900">
                <a:solidFill>
                  <a:schemeClr val="lt1"/>
                </a:solidFill>
              </a:rPr>
              <a:t>Neovim</a:t>
            </a:r>
            <a:r>
              <a:rPr lang="es" sz="1900">
                <a:solidFill>
                  <a:schemeClr val="lt1"/>
                </a:solidFill>
              </a:rPr>
              <a:t> (para valientes)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Instalación sencilla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lang="es" sz="1900">
                <a:solidFill>
                  <a:schemeClr val="lt1"/>
                </a:solidFill>
              </a:rPr>
              <a:t>Extensión oficial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lang="es" sz="1900">
                <a:solidFill>
                  <a:schemeClr val="lt1"/>
                </a:solidFill>
              </a:rPr>
              <a:t>Login con GitHub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lang="es" sz="1900">
                <a:solidFill>
                  <a:schemeClr val="lt1"/>
                </a:solidFill>
              </a:rPr>
              <a:t>¡Listo para usar!</a:t>
            </a:r>
            <a:endParaRPr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227e8ca0_0_33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/1</a:t>
            </a:r>
            <a:r>
              <a:rPr lang="es" sz="7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84" name="Google Shape;84;g386227e8ca0_0_33"/>
          <p:cNvSpPr txBox="1"/>
          <p:nvPr/>
        </p:nvSpPr>
        <p:spPr>
          <a:xfrm>
            <a:off x="792000" y="251753"/>
            <a:ext cx="756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Chat vs Autocompletado</a:t>
            </a:r>
            <a:endParaRPr b="1" i="0" sz="2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g386227e8ca0_0_33"/>
          <p:cNvSpPr txBox="1"/>
          <p:nvPr/>
        </p:nvSpPr>
        <p:spPr>
          <a:xfrm>
            <a:off x="922500" y="896316"/>
            <a:ext cx="7429500" cy="3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🔄 Autocompletado Inteligente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Sugerencias </a:t>
            </a:r>
            <a:r>
              <a:rPr b="1" lang="es" sz="1900">
                <a:solidFill>
                  <a:schemeClr val="lt1"/>
                </a:solidFill>
              </a:rPr>
              <a:t>mientras escribes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Aparece en </a:t>
            </a:r>
            <a:r>
              <a:rPr b="1" lang="es" sz="1900">
                <a:solidFill>
                  <a:schemeClr val="lt1"/>
                </a:solidFill>
              </a:rPr>
              <a:t>gris</a:t>
            </a:r>
            <a:r>
              <a:rPr lang="es" sz="1900">
                <a:solidFill>
                  <a:schemeClr val="lt1"/>
                </a:solidFill>
              </a:rPr>
              <a:t> (texto fantasma)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s" sz="1900">
                <a:solidFill>
                  <a:schemeClr val="lt1"/>
                </a:solidFill>
              </a:rPr>
              <a:t>Tab</a:t>
            </a:r>
            <a:r>
              <a:rPr lang="es" sz="1900">
                <a:solidFill>
                  <a:schemeClr val="lt1"/>
                </a:solidFill>
              </a:rPr>
              <a:t> = Aceptar | </a:t>
            </a:r>
            <a:r>
              <a:rPr b="1" lang="es" sz="1900">
                <a:solidFill>
                  <a:schemeClr val="lt1"/>
                </a:solidFill>
              </a:rPr>
              <a:t>Esc</a:t>
            </a:r>
            <a:r>
              <a:rPr lang="es" sz="1900">
                <a:solidFill>
                  <a:schemeClr val="lt1"/>
                </a:solidFill>
              </a:rPr>
              <a:t> = Rechazar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💬 Copilot Chat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Conversación interactiva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Preguntas y explicaciones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Refactorización guiada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Comandos con </a:t>
            </a:r>
            <a:r>
              <a:rPr b="1" lang="es" sz="1900">
                <a:solidFill>
                  <a:schemeClr val="lt1"/>
                </a:solidFill>
              </a:rPr>
              <a:t>/</a:t>
            </a:r>
            <a:r>
              <a:rPr lang="es" sz="1900">
                <a:solidFill>
                  <a:schemeClr val="lt1"/>
                </a:solidFill>
              </a:rPr>
              <a:t> (ej: /explain, /fix)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Usa ambos según necesites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6227e8ca0_0_54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11/11/2025</a:t>
            </a:r>
            <a:endParaRPr sz="700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1" name="Google Shape;91;g386227e8ca0_0_54"/>
          <p:cNvSpPr txBox="1"/>
          <p:nvPr/>
        </p:nvSpPr>
        <p:spPr>
          <a:xfrm>
            <a:off x="792000" y="120228"/>
            <a:ext cx="756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Casos de Uso Fullstack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" name="Google Shape;92;g386227e8ca0_0_54"/>
          <p:cNvSpPr txBox="1"/>
          <p:nvPr/>
        </p:nvSpPr>
        <p:spPr>
          <a:xfrm>
            <a:off x="792000" y="782020"/>
            <a:ext cx="74295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Backend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🎯 Controladores API REST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🔐 Middlewares de autenticación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📊 Queries a base de datos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✅ Validaciones y DTOs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Frontend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⚛️ Componentes React/Angular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🎨 Estilos CSS/SCSS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🔌 Llamadas HTTP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📝 Formularios y validación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Testing y documentación automática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f0df8cb5_0_22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8" name="Google Shape;98;g3a1f0df8cb5_0_22"/>
          <p:cNvSpPr txBox="1"/>
          <p:nvPr/>
        </p:nvSpPr>
        <p:spPr>
          <a:xfrm>
            <a:off x="792000" y="366528"/>
            <a:ext cx="756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Copilot vs ChatGPT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g3a1f0df8cb5_0_22"/>
          <p:cNvSpPr txBox="1"/>
          <p:nvPr/>
        </p:nvSpPr>
        <p:spPr>
          <a:xfrm>
            <a:off x="792000" y="1028320"/>
            <a:ext cx="74295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a1f0df8cb5_0_22" title="copilot-vs-chatgp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431" y="1342925"/>
            <a:ext cx="8561376" cy="31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f0df8cb5_0_38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6" name="Google Shape;106;g3a1f0df8cb5_0_38"/>
          <p:cNvSpPr txBox="1"/>
          <p:nvPr/>
        </p:nvSpPr>
        <p:spPr>
          <a:xfrm>
            <a:off x="792000" y="150307"/>
            <a:ext cx="756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Limitaciones y Riesgos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g3a1f0df8cb5_0_38"/>
          <p:cNvSpPr txBox="1"/>
          <p:nvPr/>
        </p:nvSpPr>
        <p:spPr>
          <a:xfrm>
            <a:off x="792000" y="812095"/>
            <a:ext cx="74295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Ten en cuenta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s" sz="1900">
                <a:solidFill>
                  <a:schemeClr val="lt1"/>
                </a:solidFill>
              </a:rPr>
              <a:t>NO ES PERFECTO</a:t>
            </a:r>
            <a:r>
              <a:rPr lang="es" sz="1900">
                <a:solidFill>
                  <a:schemeClr val="lt1"/>
                </a:solidFill>
              </a:rPr>
              <a:t> - Revisa siempre el código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s" sz="1900">
                <a:solidFill>
                  <a:schemeClr val="lt1"/>
                </a:solidFill>
              </a:rPr>
              <a:t>Seguridad</a:t>
            </a:r>
            <a:r>
              <a:rPr lang="es" sz="1900">
                <a:solidFill>
                  <a:schemeClr val="lt1"/>
                </a:solidFill>
              </a:rPr>
              <a:t> - Puede sugerir código vulnerable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s" sz="1900">
                <a:solidFill>
                  <a:schemeClr val="lt1"/>
                </a:solidFill>
              </a:rPr>
              <a:t>Licencias</a:t>
            </a:r>
            <a:r>
              <a:rPr lang="es" sz="1900">
                <a:solidFill>
                  <a:schemeClr val="lt1"/>
                </a:solidFill>
              </a:rPr>
              <a:t> - Código público puede tener copyright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s" sz="1900">
                <a:solidFill>
                  <a:schemeClr val="lt1"/>
                </a:solidFill>
              </a:rPr>
              <a:t>Dependencia</a:t>
            </a:r>
            <a:r>
              <a:rPr lang="es" sz="1900">
                <a:solidFill>
                  <a:schemeClr val="lt1"/>
                </a:solidFill>
              </a:rPr>
              <a:t> - No pierdas habilidad de programar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En proyectos grandes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Contexto limitado (~8000 tokens)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No entiende arquitectura completa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" sz="1900">
                <a:solidFill>
                  <a:schemeClr val="lt1"/>
                </a:solidFill>
              </a:rPr>
              <a:t>Puede generar inconsistencias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✅ TÚ eres el responsable del código final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f0df8cb5_0_30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3" name="Google Shape;113;g3a1f0df8cb5_0_30"/>
          <p:cNvSpPr txBox="1"/>
          <p:nvPr/>
        </p:nvSpPr>
        <p:spPr>
          <a:xfrm>
            <a:off x="726750" y="366528"/>
            <a:ext cx="756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 Prompt?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g3a1f0df8cb5_0_30"/>
          <p:cNvSpPr txBox="1"/>
          <p:nvPr/>
        </p:nvSpPr>
        <p:spPr>
          <a:xfrm>
            <a:off x="857250" y="1177802"/>
            <a:ext cx="7429500" cy="3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Un  prompt  es la instrucción o pregunta que le das a una IA (como Copilot, ChatGPT, Claude, etc.) para obtener una respuesta.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**CLARIDAD** - Sé específico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**CONTEXTO** - Tipos y reglas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**EJEMPLOS** - Muestra patrones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6227e8ca0_0_80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20" name="Google Shape;120;g386227e8ca0_0_80"/>
          <p:cNvSpPr txBox="1"/>
          <p:nvPr/>
        </p:nvSpPr>
        <p:spPr>
          <a:xfrm>
            <a:off x="2740850" y="537525"/>
            <a:ext cx="401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s" sz="3400">
                <a:solidFill>
                  <a:schemeClr val="lt1"/>
                </a:solidFill>
              </a:rPr>
              <a:t>Tipos de Prompts: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g386227e8ca0_0_80"/>
          <p:cNvSpPr txBox="1"/>
          <p:nvPr/>
        </p:nvSpPr>
        <p:spPr>
          <a:xfrm>
            <a:off x="857250" y="1222918"/>
            <a:ext cx="7925700" cy="2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s" sz="1900">
                <a:solidFill>
                  <a:schemeClr val="lt1"/>
                </a:solidFill>
              </a:rPr>
              <a:t>1. Descripción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Define qué necesitas de forma clara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s" sz="1900">
                <a:solidFill>
                  <a:schemeClr val="lt1"/>
                </a:solidFill>
              </a:rPr>
              <a:t>2. Contexto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Proporciona información de fondo relevante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s" sz="1900">
                <a:solidFill>
                  <a:schemeClr val="lt1"/>
                </a:solidFill>
              </a:rPr>
              <a:t>3. Tarea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Especifica la acción que quieres que realice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s" sz="1900">
                <a:solidFill>
                  <a:schemeClr val="lt1"/>
                </a:solidFill>
              </a:rPr>
              <a:t>4. Ejemplo**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lt1"/>
                </a:solidFill>
              </a:rPr>
              <a:t>Muestra un modelo de lo que esperas obtener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f0df8cb5_0_51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27" name="Google Shape;127;g3a1f0df8cb5_0_51"/>
          <p:cNvSpPr txBox="1"/>
          <p:nvPr/>
        </p:nvSpPr>
        <p:spPr>
          <a:xfrm>
            <a:off x="1797150" y="577075"/>
            <a:ext cx="6497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s" sz="3400">
                <a:solidFill>
                  <a:schemeClr val="lt1"/>
                </a:solidFill>
              </a:rPr>
              <a:t>Prompt Genérico vs. Efectivo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g3a1f0df8cb5_0_51"/>
          <p:cNvSpPr txBox="1"/>
          <p:nvPr/>
        </p:nvSpPr>
        <p:spPr>
          <a:xfrm>
            <a:off x="827175" y="1765250"/>
            <a:ext cx="79257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s" sz="1900">
                <a:solidFill>
                  <a:schemeClr val="lt1"/>
                </a:solidFill>
              </a:rPr>
              <a:t>❌ Prompt Genérico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" Genera un controller en C# "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lt1"/>
                </a:solidFill>
              </a:rPr>
              <a:t>**Problema:** Simple, sin contexto, código genérico y poco útil</a:t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f0df8cb5_0_64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4" name="Google Shape;134;g3a1f0df8cb5_0_64"/>
          <p:cNvSpPr txBox="1"/>
          <p:nvPr/>
        </p:nvSpPr>
        <p:spPr>
          <a:xfrm>
            <a:off x="1812200" y="120217"/>
            <a:ext cx="6497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s" sz="3400">
                <a:solidFill>
                  <a:schemeClr val="lt1"/>
                </a:solidFill>
              </a:rPr>
              <a:t>Prompt Genérico vs. Efectivo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g3a1f0df8cb5_0_64"/>
          <p:cNvSpPr txBox="1"/>
          <p:nvPr/>
        </p:nvSpPr>
        <p:spPr>
          <a:xfrm>
            <a:off x="345900" y="772653"/>
            <a:ext cx="84522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1"/>
                </a:solidFill>
              </a:rPr>
              <a:t> ✅ Prompt Efectivo</a:t>
            </a:r>
            <a:endParaRPr b="1" sz="15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"Genera un API Controller en C# .NET 8 para gestionar productos de un e-commerce. Incluye: endpoints CRUD (GET, POST, PUT, DELETE), validación de datos con DataAnnotations, manejo de respuestas HTTP y documentación con comentarios XML. Usa inyección de dependencias para el repositorio."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Incluye: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Descripción: API Controller para gestión de productos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 Contexto:  E-commerce, .NET 8, buenas prácticas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Tarea: Crear CRUD con validaciones y documentación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Ejemplo de formato: Especifica patrón (inyección de dependencias, DataAnnotations)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**Resultado:** Código específico, estructurado y listo para usar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f0df8cb5_0_81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41" name="Google Shape;141;g3a1f0df8cb5_0_81"/>
          <p:cNvSpPr txBox="1"/>
          <p:nvPr/>
        </p:nvSpPr>
        <p:spPr>
          <a:xfrm>
            <a:off x="1812200" y="120217"/>
            <a:ext cx="6497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s" sz="3400">
                <a:solidFill>
                  <a:schemeClr val="lt1"/>
                </a:solidFill>
              </a:rPr>
              <a:t>Prompt Genérico vs. Efectivo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g3a1f0df8cb5_0_81"/>
          <p:cNvSpPr txBox="1"/>
          <p:nvPr/>
        </p:nvSpPr>
        <p:spPr>
          <a:xfrm>
            <a:off x="345900" y="772653"/>
            <a:ext cx="84522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 </a:t>
            </a:r>
            <a:r>
              <a:rPr b="1" lang="es" sz="1600">
                <a:solidFill>
                  <a:schemeClr val="lt1"/>
                </a:solidFill>
              </a:rPr>
              <a:t> Model Context Protocol (2025)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🔌 **Estándar abierto** para conectar IA + herramientas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🔄 **Arquitectura cliente-servidor** (JSON-RPC)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🔒 **Seguro y stateful**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Cómo funciona: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**LLM** → **MCP** → **Herramienta externa**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Local (STDIO) o Remoto (HTTP)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Descubre capacidades y gestiona permisos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Beneficios: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Workflows agénticos (Copilot + DBs/repos)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Soluciona problema NxM (muchos modelos × herramientas)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f0df8cb5_0_88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48" name="Google Shape;148;g3a1f0df8cb5_0_88"/>
          <p:cNvSpPr txBox="1"/>
          <p:nvPr/>
        </p:nvSpPr>
        <p:spPr>
          <a:xfrm>
            <a:off x="1812200" y="120217"/>
            <a:ext cx="6497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s" sz="3400">
                <a:solidFill>
                  <a:schemeClr val="lt1"/>
                </a:solidFill>
              </a:rPr>
              <a:t>¿QUÉ ES UN MCP SERVER?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g3a1f0df8cb5_0_88"/>
          <p:cNvSpPr txBox="1"/>
          <p:nvPr/>
        </p:nvSpPr>
        <p:spPr>
          <a:xfrm>
            <a:off x="345900" y="772653"/>
            <a:ext cx="84522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  Model Context Protocol (2025)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🔌 **Estándar abierto** para conectar IA + herramientas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🔄 **Arquitectura cliente-servidor** (JSON-RPC)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🔒 **Seguro y stateful**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Cómo funciona: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**LLM** → **MCP** → **Herramienta externa**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Local (STDIO) o Remoto (HTTP)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Descubre capacidades y gestiona permisos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Beneficios: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Workflows agénticos (Copilot + DBs/repos)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- Soluciona problema NxM (muchos modelos × herramientas)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f0df8cb5_0_95"/>
          <p:cNvSpPr txBox="1"/>
          <p:nvPr/>
        </p:nvSpPr>
        <p:spPr>
          <a:xfrm>
            <a:off x="6084795" y="120225"/>
            <a:ext cx="288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11/11/</a:t>
            </a:r>
            <a:r>
              <a:rPr b="0" i="0" lang="es" sz="7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/2025</a:t>
            </a:r>
            <a:endParaRPr b="0" i="0" sz="7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55" name="Google Shape;155;g3a1f0df8cb5_0_95"/>
          <p:cNvSpPr txBox="1"/>
          <p:nvPr/>
        </p:nvSpPr>
        <p:spPr>
          <a:xfrm>
            <a:off x="1812200" y="120217"/>
            <a:ext cx="6497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s" sz="3400">
                <a:solidFill>
                  <a:schemeClr val="lt1"/>
                </a:solidFill>
              </a:rPr>
              <a:t>TOP 5 MCP SERVERS</a:t>
            </a:r>
            <a:endParaRPr b="1" i="0" sz="3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g3a1f0df8cb5_0_95"/>
          <p:cNvSpPr txBox="1"/>
          <p:nvPr/>
        </p:nvSpPr>
        <p:spPr>
          <a:xfrm>
            <a:off x="345900" y="772653"/>
            <a:ext cx="84522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  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157" name="Google Shape;157;g3a1f0df8cb5_0_95"/>
          <p:cNvSpPr txBox="1"/>
          <p:nvPr/>
        </p:nvSpPr>
        <p:spPr>
          <a:xfrm>
            <a:off x="225600" y="782025"/>
            <a:ext cx="4572000" cy="26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🗂️ #1 File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Acceso al sistema de archivos local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 Lee/escribe/crea directorios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**Uso:** Generar y guardar código directamente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🧠 #2 Sequential Thinking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Razonamiento paso a paso estructurado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lt1"/>
                </a:solidFill>
              </a:rPr>
              <a:t>- Mejora decisiones complejas del LLM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- **Uso:** Debugging y arquitectura de código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📚 #3 Context7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- Gestión avanzada de contexto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- Memoria extendida para conversaciones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1"/>
                </a:solidFill>
              </a:rPr>
              <a:t>- **Uso:** Mantener coherencia en proyectos grandes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g3a1f0df8cb5_0_95"/>
          <p:cNvSpPr txBox="1"/>
          <p:nvPr/>
        </p:nvSpPr>
        <p:spPr>
          <a:xfrm>
            <a:off x="4797600" y="844200"/>
            <a:ext cx="4075800" cy="26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🔍 #4 Tavily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- Búsqueda web especializada para IA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- Acceso a información actualizada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- **Uso:** Consultar docs, APIs o tecnologías recientes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1"/>
                </a:solidFill>
              </a:rPr>
              <a:t>🗄️ #5 Base de Datos (PostgreSQL/MongoDB)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1"/>
                </a:solidFill>
              </a:rPr>
              <a:t>- Inspecciona esquemas y ejecuta queries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1"/>
                </a:solidFill>
              </a:rPr>
              <a:t>- Operaciones read-only seguras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lt1"/>
                </a:solidFill>
              </a:rPr>
              <a:t>- **Uso:** Validaciones y análisis de datos en desarrollo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